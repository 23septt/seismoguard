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52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19-39384-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.quakelogic.net/optimizing-sta-lta-settings-for-microseismic-earthquake-detection/" TargetMode="External"/><Relationship Id="rId5" Type="http://schemas.openxmlformats.org/officeDocument/2006/relationships/hyperlink" Target="https://journals.sagepub.com/doi/10.1177/87552930231153424" TargetMode="External"/><Relationship Id="rId4" Type="http://schemas.openxmlformats.org/officeDocument/2006/relationships/hyperlink" Target="https://link.springer.com/chapter/10.1007/978-3-540-72241-0_1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โครงงานวิทยาศาสตร์และเทคโนโลยี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SeismoGuard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ระบบตรวจจับคลื่น P-Wave แผ่นดินไหวแบบเรียลไทม์บน Arduino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41148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1554480" cy="3474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2514600"/>
            <a:ext cx="1554480" cy="3474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2514600"/>
            <a:ext cx="1554480" cy="3474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STA/LTA Algorithm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514600"/>
            <a:ext cx="1554480" cy="3474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514600"/>
            <a:ext cx="1554480" cy="3474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ปีการศึกษา 2567  |  โรงเรียน _______________  |  ชื่อผู้จัดทำ 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สารบัญ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0292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05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บทนำ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1978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ที่มา วัตถุประสงค์ ขอบเขต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859536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73352"/>
            <a:ext cx="50292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733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ทฤษฎีที่เกี่ยวข้อง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0025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— คลื่น P-Wave, STA/LTA, State Machine, Hardware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78024"/>
            <a:ext cx="859536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78024"/>
            <a:ext cx="50292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780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วิธีดำเนินการ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807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 Pipeline, Firmware, Grid 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82696"/>
            <a:ext cx="859536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82696"/>
            <a:ext cx="50292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826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ผลการดำเนินงาน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Detection Rate, Delay, Parameter Comparison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87368"/>
            <a:ext cx="859536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87368"/>
            <a:ext cx="502920" cy="65836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873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4123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สรุปและอภิปราย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4416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ข้อจำกัด แนวทางพัฒนาต่อ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บทนำ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  ที่มาและความสำคัญ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192024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ปัญหาที่พบ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แผ่นดินไหวเกิดขึ้นโดยไม่มีการเตือนล่วงหน้า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ระบบ Early Warning ระดับมืออาชีพมีราคาสูงมาก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ประเทศไทยมีพื้นที่เสี่ยงแต่ขาดระบบเฝ้าระวังขนาดเล็ก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023360" cy="192024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แนวทางแก้ปัญหา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คลื่น P-Wave มาก่อนคลื่นทำลาย 10–60 วินาที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ใช้ sensor MEMS MPU6050 + Arduino ราคาถูก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อัลกอริทึม STA/LTA ตรวจจับ onset ได้แบบ real-time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321040" cy="9144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07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P-Wave คือสัญญาณเตือนภัยธรรมชาติที่มาก่อนแรงสั่นสะเทือนทำลายล้างเสมอ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โครงงานนี้พัฒนาอุปกรณ์ตรวจจับ P-Wave ต้นทุนต่ำด้วย Arduino + MPU6050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  วัตถุประสงค์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321040" cy="8046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594360" cy="8046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93268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พัฒนาระบบตรวจจับ P-Wave แบบ real-time บน Arduino โดยใช้ sensor MPU6050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321040" cy="8046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83080"/>
            <a:ext cx="594360" cy="8046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830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89280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ใช้อัลกอริทึม STA/LTA พร้อม State Machine 4 สถานะ ตรวจจับ onset ของแผ่นดินไหว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321040" cy="8046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43200"/>
            <a:ext cx="594360" cy="8046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432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85292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หาค่า parameter ที่ดีที่สุดโดย Grid Search กับข้อมูล STEAD Dataset จำนวน 100 ตัวอย่าง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8321040" cy="804672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703320"/>
            <a:ext cx="594360" cy="8046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033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81304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 Browser Dashboard สำหรับ visualize waveform และทดสอบอัลกอริทึม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 ขอบเขตของโครงงาน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210312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อยู่ในขอบเขต 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 MEMS: MPU6050 (3-axis, 50 Hz)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อัลกอริทึม: Recursive STA/LTA + CF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ข้อมูลทดสอบ: STEAD Dataset 100 samples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แจ้งเตือน: Buzzer + Serial 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14800" cy="210312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นอกขอบเขต 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ไม่ใช้ seismometer ระดับมืออาชีพ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ไม่ทดสอบกับแผ่นดินไหวจริงในสนาม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ไม่รวมการส่งสัญญาณระยะไกล (Wi-Fi/SMS)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ไม่ระบุ Magnitude หรือ Epicenter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8321040" cy="731520"/>
          </a:xfrm>
          <a:prstGeom prst="rect">
            <a:avLst/>
          </a:prstGeom>
          <a:solidFill>
            <a:srgbClr val="0F0F1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เครื่องจำลองแผ่นดินไหว — กลไกข้อเหวี่ยง: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ใช้พิสูจน์ว่าระบบ trigger ได้จากแรงสั่นจริง โดยไม่ต้องโปรแกรม waveform เพิ่ม (sinusoidal motion = P-Wave โดยธรรมชาติ)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ทฤษฎีที่เกี่ยวข้อง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Theory &amp; Background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  คลื่นไหวสะเทือน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321040" cy="11155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1371600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P-Wave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868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การเคลื่อนที่: อนุภาคสั่น ไปข้างหน้า–ถอยหลัง (ตามทิศคลื่น)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2161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ความเร็ว: ~6 km/s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005840"/>
            <a:ext cx="164592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005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มาก่อน — ใช้เตือนภัย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8321040" cy="11155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03120"/>
            <a:ext cx="137160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S-Wave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Wave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194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การเคลื่อนที่: อนุภาคสั่น ขึ้น–ลง (ตั้งฉากทิศคลื่น)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25420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ความเร็ว: ~3.5 km/s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2331720"/>
            <a:ext cx="164592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แรงกว่า — ทำลายโครงสร้าง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321040" cy="11155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29000"/>
            <a:ext cx="1371600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Surface Wave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/ Rayleigh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3520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การเคลื่อนที่: เคลื่อนที่บนผิวดิน ซับซ้อน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386791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ความเร็ว: ~2–3 km/s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3657600"/>
            <a:ext cx="16459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ช้าสุด — ทำลายมากสุด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  อัลกอริทึม STA/LTA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651760" cy="150876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651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Function (CF)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(rawMag − smoothedMag)²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วัดความเปลี่ยนแปลงกะทันหันของขนาดแรงสั่น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651760" cy="150876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777240"/>
            <a:ext cx="26517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77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 (Short-Term Average)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หน่วยความจำระยะสั้น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ตรวจจับ burst ฉับพลัน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0.3 s = 15 samples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651760" cy="150876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777240"/>
            <a:ext cx="265176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77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 (Long-Term Average)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188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 baseline noise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ปรับตัวช้าๆ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30 s = 1500 samples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8321040" cy="50292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STA ÷ LTA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2450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 Ratio ≥ 3.0  →  ตรวจพบเหตุการณ์  |  ถ้า  Ratio &lt; 1.5  →  สัญญาณสงบลง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8321040" cy="96012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 Recursive EMA (ประหยัด RAM ไม่ต้องเก็บ buffer)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STA(n) = α·CF(n) + (1−α)·STA(n−1)     โดย  α = 1 / (0.3 s × 50 Hz) = 0.0667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ใช้รูปเดียวกัน  แต่ α เล็กกว่ามาก = 0.000667  (ปรับตัวช้ามาก)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  State Machine — 4 สถานะ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286000" cy="1600200"/>
          </a:xfrm>
          <a:prstGeom prst="rect">
            <a:avLst/>
          </a:prstGeom>
          <a:solidFill>
            <a:srgbClr val="18182A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28600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78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เฝ้าระวัง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อัปเดตปกติ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 ratio ≥ 3.0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960120"/>
            <a:ext cx="2286000" cy="1600200"/>
          </a:xfrm>
          <a:prstGeom prst="rect">
            <a:avLst/>
          </a:prstGeom>
          <a:solidFill>
            <a:srgbClr val="18182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960120"/>
            <a:ext cx="22860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978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กำลังตรวจ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7647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อัปเดตช้า (bleed)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นับ trigger samples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960120"/>
            <a:ext cx="2286000" cy="1600200"/>
          </a:xfrm>
          <a:prstGeom prst="rect">
            <a:avLst/>
          </a:prstGeom>
          <a:solidFill>
            <a:srgbClr val="18182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960120"/>
            <a:ext cx="22860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978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ALARMING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17647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ดัง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 ratio &lt; 1.5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2880360"/>
            <a:ext cx="2286000" cy="1600200"/>
          </a:xfrm>
          <a:prstGeom prst="rect">
            <a:avLst/>
          </a:prstGeom>
          <a:solidFill>
            <a:srgbClr val="18182A"/>
          </a:solidFill>
          <a:ln w="25400">
            <a:solidFill>
              <a:srgbClr val="3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880360"/>
            <a:ext cx="2286000" cy="411480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8986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180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พักเครื่อง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3685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re-trigger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วินาที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≥ 3.0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≥ 2 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&lt; 1.5 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 s elapsed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  Hardware และชุดข้อมูล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2004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(ATmega328P)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โปรเซสเซอร์: 16 MHz, RAM 2 KB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— MEMS 6-DOF IMU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Accelerometer ± 2g, Filter: 10 Hz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50 Hz (ทุก 20 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 Pin 9, beep pattern 150 ms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output: CF / STA / LTA / Ratio /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023360" cy="32004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EArthquake Dataset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ข้อมูล seismogram จากสถานีทั่วโลก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ข้อมูลที่ใช้ในโครงงาน: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P-wave: 100 samples
  • Noise: 1 sample
  • ความยาว: 250 points @ 50 Hz
  • Onset: index 50 (วินาทีที่ 1.0)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HDF5 → JSON → C header → Arduino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วิธีดำเนินการ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  ภาพรวม Data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417320" cy="1280160"/>
          </a:xfrm>
          <a:prstGeom prst="rect">
            <a:avLst/>
          </a:prstGeom>
          <a:solidFill>
            <a:srgbClr val="18182A"/>
          </a:solidFill>
          <a:ln w="254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417320" cy="347472"/>
          </a:xfrm>
          <a:prstGeom prst="rect">
            <a:avLst/>
          </a:prstGeom>
          <a:solidFill>
            <a:srgbClr val="3A3A50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645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417320" cy="1280160"/>
          </a:xfrm>
          <a:prstGeom prst="rect">
            <a:avLst/>
          </a:prstGeom>
          <a:solidFill>
            <a:srgbClr val="18182A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188720"/>
            <a:ext cx="141732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207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extract_data.js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600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แปลงข้อมูล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49040" y="1188720"/>
            <a:ext cx="1417320" cy="1280160"/>
          </a:xfrm>
          <a:prstGeom prst="rect">
            <a:avLst/>
          </a:prstGeom>
          <a:solidFill>
            <a:srgbClr val="18182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188720"/>
            <a:ext cx="14173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207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test_data.h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seismoguard_data.json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1600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header / 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645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1417320" cy="1280160"/>
          </a:xfrm>
          <a:prstGeom prst="rect">
            <a:avLst/>
          </a:prstGeom>
          <a:solidFill>
            <a:srgbClr val="18182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188720"/>
            <a:ext cx="14173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207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600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simulation.ino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1645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23760" y="1188720"/>
            <a:ext cx="1417320" cy="1280160"/>
          </a:xfrm>
          <a:prstGeom prst="rect">
            <a:avLst/>
          </a:prstGeom>
          <a:solidFill>
            <a:srgbClr val="18182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188720"/>
            <a:ext cx="14173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2070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16002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blackmystery.html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651760"/>
            <a:ext cx="8321040" cy="50292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79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ไฟล์ที่เกี่ยวข้องทั้งหมด: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26791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earthquake.ino.ino  |  simulation.ino.ino  |  blackmystery.html  |  seismoguard_data.json  |  param_test.js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291840"/>
            <a:ext cx="8321040" cy="146304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383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 Path — earthquake.ino.ino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→ readCF() → updateDetector() → manageAlarm() → Buzzer + Serial Plotter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300 samples warm-up → baseline LTA → begin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  การพัฒนา Firmware Arduino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readCF()  —  คำนวณ Characteristic Function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321040" cy="77724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rawMag = √(ax² + ay² + az²)</a:t>
            </a: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delta = |rawMag − smoothedMag|   →   CF = delta²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smoothedMag อัปเดตด้วย EMA (α = 0.05) — ตรวจเฉพาะ การเปลี่ยนแปลง ไม่ใช่ขนาดสัมบูรณ์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Rejection  —  ป้องกัน noise กระชาก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313432"/>
            <a:ext cx="8321040" cy="59436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(CF &gt; 50 × LTA)  →  CF = 50 × LTA    // จำกัดไม่ให้ spike เดียวทำ LTA เสีย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30449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Pattern  —  ALARMING State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8321040" cy="9144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2900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cycle: 150 ms  |  ON: 75 ms  |  OFF: 75 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window: 3,000 ms  →  Lockout: 5,000 ms  →  กลับ STANDBY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  Browser Dashboard — blackmystery.html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32104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59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Chart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52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raw signal + CF ทุก sample ใน real-time พร้อมระบุจุด onset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832104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9344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STA/LTA Ratio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9568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 ratio เทียบกับ threshold line 3.0 และ 1.5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14016"/>
            <a:ext cx="832104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14016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Indicator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761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STANDBY / DETECTING / ALARMING / LOCKOUT แบบ live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832104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18688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Sliders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 STA window, TRIG ratio, MIN trigs, SPIKE reject ได้ทันที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8321040" cy="65836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23360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782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3708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P-wave sample 1–100 หรือ Noise จาก STEAD dataset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 การหาค่า Parameter ด้วย Grid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225 ชุดค่า × 101 ชุดข้อมูล (100 P-wave + 1 Noise) = 22,725 การจำลอง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321040" cy="1783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ค่าที่ทดสอบ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จำนวน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STA_WINDOW_SEC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/ 0.4 / 0.5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RATIO_TRIGGER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/ 3.5 / 4.0 / 4.5 / 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MIN_TRIGGER_SAMPLES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 / 5 / 8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SPIKE_REJECT_FACTOR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50 /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154680"/>
            <a:ext cx="8321040" cy="186994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246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สูตรคะแนน — อ้างอิง F-beta Score (β = 2)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(DetRate × 60) − (AvgDelay/250 × 10) − (FalseAlarm × 15)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" y="3833295"/>
            <a:ext cx="8001000" cy="1120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Sources:</a:t>
            </a:r>
          </a:p>
          <a:p>
            <a:r>
              <a:rPr lang="en-US" sz="1200" u="sng" dirty="0">
                <a:hlinkClick r:id="rId3"/>
              </a:rPr>
              <a:t>The Limits of Earthquake Early Warning Accuracy and Best Alerting Strategy — Nature Scientific Reports</a:t>
            </a:r>
            <a:endParaRPr lang="en-US" sz="1200" dirty="0"/>
          </a:p>
          <a:p>
            <a:r>
              <a:rPr lang="en-US" sz="1200" u="sng" dirty="0">
                <a:hlinkClick r:id="rId4"/>
              </a:rPr>
              <a:t>Seismic Early Warning Systems: Procedure for Automated Decision Making — Springer</a:t>
            </a:r>
            <a:endParaRPr lang="en-US" sz="1200" dirty="0"/>
          </a:p>
          <a:p>
            <a:r>
              <a:rPr lang="en-US" sz="1200" u="sng" dirty="0">
                <a:hlinkClick r:id="rId5"/>
              </a:rPr>
              <a:t>A framework to quantify the effectiveness of earthquake early warning — SAGE Journals</a:t>
            </a:r>
            <a:endParaRPr lang="en-US" sz="1200" dirty="0"/>
          </a:p>
          <a:p>
            <a:r>
              <a:rPr lang="en-US" sz="1200" u="sng" dirty="0">
                <a:hlinkClick r:id="rId6"/>
              </a:rPr>
              <a:t>Optimizing STA/LTA Settings for </a:t>
            </a:r>
            <a:r>
              <a:rPr lang="en-US" sz="1200" u="sng" dirty="0" err="1">
                <a:hlinkClick r:id="rId6"/>
              </a:rPr>
              <a:t>Microseismic</a:t>
            </a:r>
            <a:r>
              <a:rPr lang="en-US" sz="1200" u="sng" dirty="0">
                <a:hlinkClick r:id="rId6"/>
              </a:rPr>
              <a:t> Earthquake Detection — </a:t>
            </a:r>
            <a:r>
              <a:rPr lang="en-US" sz="1200" u="sng" dirty="0" err="1">
                <a:hlinkClick r:id="rId6"/>
              </a:rPr>
              <a:t>QuakeLogic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ผลการดำเนินงาน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  ผลลัพธ์ Grid Search — Top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 225 ชุดค่า เรียงตามคะแนน (สูง → ต่ำ):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6583680" cy="3520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อันดับ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ไม่มี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 ค่า Parameter ที่ดีที่สุดและประสิทธิภาพ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560320" cy="1280160"/>
          </a:xfrm>
          <a:prstGeom prst="rect">
            <a:avLst/>
          </a:prstGeom>
          <a:solidFill>
            <a:srgbClr val="18182A"/>
          </a:solidFill>
          <a:ln w="1905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/ 100 samples)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804672"/>
            <a:ext cx="2560320" cy="1280160"/>
          </a:xfrm>
          <a:prstGeom prst="rect">
            <a:avLst/>
          </a:prstGeom>
          <a:solidFill>
            <a:srgbClr val="18182A"/>
          </a:solidFill>
          <a:ln w="19050">
            <a:solidFill>
              <a:srgbClr val="7B24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503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166 ms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Detection Delay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(8.3 samples หลัง onset)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804672"/>
            <a:ext cx="2560320" cy="1280160"/>
          </a:xfrm>
          <a:prstGeom prst="rect">
            <a:avLst/>
          </a:prstGeom>
          <a:solidFill>
            <a:srgbClr val="18182A"/>
          </a:solidFill>
          <a:ln w="19050">
            <a:solidFill>
              <a:srgbClr val="7B24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85039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บน noise sample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8229600" cy="13716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77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— ใช้กับทุกไฟล์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STA_WINDOW_SEC  =  0.3 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715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window 15 samples — ตอบสนองเร็ว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9352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RATIO_TRIGGER  =  3.0 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9352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threshold พอดี — ไม่ trigger noise แต่จับ P-wave ครบ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MIN_TRIGGER_SAMPLES  = 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ยืนยัน 2 ครั้งติดต่อ (40 ms) — ป้องกัน single spike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SPIKE_REJECT_FACTOR  =  50.0 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374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กรอง spike สูงกว่า 50×LTA ออก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  เปรียบเทียบก่อน / หลัง Grid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321040" cy="22128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earthquake.ino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(เดิม)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simulation.ino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(เดิม)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หลัง Grid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เปลี่ยน?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STA_WINDOW_SEC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RATIO_TRIGGER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MIN_TRIGGER_SAMPLES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ทั้งคู่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SPIKE_REJECT_FACTOR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4C5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ทั้งคู่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108960"/>
            <a:ext cx="8321040" cy="1645920"/>
          </a:xfrm>
          <a:prstGeom prst="rect">
            <a:avLst/>
          </a:prstGeom>
          <a:solidFill>
            <a:srgbClr val="0F0F1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ผลกระทบของการเปลี่ยนแปลง: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547872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50 → 2: ลด latency จาก &gt;1 วินาที เป็น 40 ms — ไม่พลาด burst สั้น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SPIKE 20 → 50: รับ P-wave แรงได้ โดยยังกรอง electrical spike ออก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4 → 3 (sim): ตรวจจับ sample ที่ amplitude ต่ำได้ครบ 100%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  การทดสอบกับเครื่องจำลองแผ่นดินไหว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2004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กลไกข้อเหวี่ยง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แปลงการหมุน → การเคลื่อนที่เส้นตรง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ได้คลื่น sinusoidal ในแนวแกนเดียว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= P-Wave (longitudinal) โดยธรรมชาติ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ความถี่ที่แนะนำ: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2–5 Hz (120–300 RPM)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อยู่ใน MPU6050 filter range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STA window 0.3s จับได้ ~1 รอบ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023360" cy="320040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วิธีทดสอบ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เปิด Arduino — รอ 30 วินาที (LTA warm-up)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เปิดมอเตอร์ข้อเหวี่ยงทันที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 พุ่งสูงขึ้นฉับพลัน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ratio &gt; 3.0 → DETECTING → ALARMING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Buzzer ดัง + Serial แสดงผล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ผลที่คาดหวัง: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ระบบ trigger ได้ใน &lt; 200 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หลังเครื่องเริ่มสั่น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9090F"/>
          </a:solidFill>
          <a:ln w="12700">
            <a:solidFill>
              <a:srgbClr val="0909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สรุปและอภิปรายผล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5.1  สรุปผล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321040" cy="86868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59436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896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ตรวจจับได้ 100%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24358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STA/LTA ตรวจจับ P-Wave ได้ครบ 100 จาก 100 samples จาก STEAD 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321040" cy="86868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28800"/>
            <a:ext cx="59436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2880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ตอบสนองเร็ว 166 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26771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เฉลี่ย 8.3 samples หลัง P-wave onset ที่ 50 Hz — เพียงพอสำหรับการเตือนภัยล่วงหน้า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8321040" cy="86868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52928"/>
            <a:ext cx="594360" cy="8686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5292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False Alarm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ชุดค่า parameter ที่เลือกไม่ trigger บน noise sample เลย — ความน่าเชื่อถือสูง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77056"/>
            <a:ext cx="8321040" cy="868680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77056"/>
            <a:ext cx="59436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77056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 Parameter สม่ำเสมอ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3159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ไฟล์ทั้ง 3 (firmware, simulation, browser) ใช้ค่าเดียวกัน — ผลทดสอบสะท้อนพฤติกรรมจริง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5.2  ข้อจำกัดและอภิปรายผล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321040" cy="868680"/>
          </a:xfrm>
          <a:prstGeom prst="rect">
            <a:avLst/>
          </a:prstGeom>
          <a:solidFill>
            <a:srgbClr val="18182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96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ของ MEMS ต่ำ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มี noise floor สูงกว่า seismometer จริงมาก อาจพลาด micro-earthquake (M &lt; 3)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321040" cy="868680"/>
          </a:xfrm>
          <a:prstGeom prst="rect">
            <a:avLst/>
          </a:prstGeom>
          <a:solidFill>
            <a:srgbClr val="18182A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In-Silico เท่านั้น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STEAD คือ waveform ที่บันทึกไว้ — ยังไม่ได้ทดสอบกับ ground motion จริงในสนาม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8321040" cy="868680"/>
          </a:xfrm>
          <a:prstGeom prst="rect">
            <a:avLst/>
          </a:prstGeom>
          <a:solidFill>
            <a:srgbClr val="18182A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LTA ต้องการ Warm-Up 30 วินาที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ก่อนระบบพร้อม baseline ต้องนิ่งนาน 30 วินาที — ไม่เหมาะกับการ reboot บ่อย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877056"/>
            <a:ext cx="8321040" cy="868680"/>
          </a:xfrm>
          <a:prstGeom prst="rect">
            <a:avLst/>
          </a:prstGeom>
          <a:solidFill>
            <a:srgbClr val="18182A"/>
          </a:solidFill>
          <a:ln w="19050">
            <a:solidFill>
              <a:srgbClr val="3A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6849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แกน vs 3 แกน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เครื่องข้อเหวี่ยงสั่น 1 แกน แต่แผ่นดินไหวจริงมี component ทุกแกน — ต้องใช้ vector magnitude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18872"/>
            <a:ext cx="64008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9144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5.3  แนวทางพัฒนาต่อ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914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บทที่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321040" cy="84124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594360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877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Wi-Fi (ESP32)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252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alert ผ่าน LINE Notify / MQTT ให้ผู้ใช้ได้รับการแจ้งเตือนบนมือถือ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321040" cy="84124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10512"/>
            <a:ext cx="594360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051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883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Machine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2311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CNN / LSTM onset picker จาก PhaseNet เพื่อความแม่นยำสูงกว่า STA/LTA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8321040" cy="84124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16352"/>
            <a:ext cx="594360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1635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2889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ระดับสูงขึ้น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23697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เปลี่ยนเป็น geophone หรือ ADXL355 (noise floor ต่ำกว่า 100×) เพื่อจับ M &lt;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8321040" cy="841248"/>
          </a:xfrm>
          <a:prstGeom prst="rect">
            <a:avLst/>
          </a:prstGeom>
          <a:solidFill>
            <a:srgbClr val="18182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22192"/>
            <a:ext cx="594360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2219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 จริง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4281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ติดตั้งที่จริงในพื้นที่เสี่ยง เก็บข้อมูลเปรียบเทียบกับสถานีอ้างอิง TMD/USGS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377440"/>
            <a:ext cx="3200400" cy="36576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ขอบคุณครับ / ค่ะ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4622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SeismoGuard — Arduino P-Wave Detector  |  STA/LTA Algorithm  |  STEAD Dataset  |  100% Detection Rate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2185</Words>
  <Application>Microsoft Office PowerPoint</Application>
  <PresentationFormat>On-screen Show (16:9)</PresentationFormat>
  <Paragraphs>466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SeismoGuard — ระบบตรวจจับคลื่น P-Wave แผ่นดินไหว</dc:title>
  <dc:subject>PptxGenJS Presentation</dc:subject>
  <dc:creator>PptxGenJS</dc:creator>
  <cp:lastModifiedBy>ArChaSwan ⠀</cp:lastModifiedBy>
  <cp:revision>2</cp:revision>
  <dcterms:created xsi:type="dcterms:W3CDTF">2026-04-05T16:16:00Z</dcterms:created>
  <dcterms:modified xsi:type="dcterms:W3CDTF">2026-04-05T18:54:19Z</dcterms:modified>
</cp:coreProperties>
</file>